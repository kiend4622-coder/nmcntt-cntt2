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75" d="100"/>
          <a:sy n="75" d="100"/>
        </p:scale>
        <p:origin x="54" y="-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vi-VN" dirty="0">
                <a:solidFill>
                  <a:schemeClr val="accent1"/>
                </a:solidFill>
              </a:rPr>
              <a:t>DOANH THU THUẦN</a:t>
            </a:r>
            <a:r>
              <a:rPr lang="vi-VN" baseline="0" dirty="0">
                <a:solidFill>
                  <a:schemeClr val="accent1"/>
                </a:solidFill>
              </a:rPr>
              <a:t> </a:t>
            </a:r>
            <a:r>
              <a:rPr lang="vi-VN" sz="1400" baseline="0" dirty="0">
                <a:solidFill>
                  <a:schemeClr val="accent1"/>
                </a:solidFill>
              </a:rPr>
              <a:t>(Tỷ VND)</a:t>
            </a:r>
            <a:endParaRPr lang="vi-VN" sz="1400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20087321536738831"/>
          <c:y val="3.079028602842282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Trang_tính1!$B$1</c:f>
              <c:strCache>
                <c:ptCount val="1"/>
                <c:pt idx="0">
                  <c:v>Chuỗi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Trang_tính1!$A$2:$A$6</c:f>
              <c:strCache>
                <c:ptCount val="5"/>
                <c:pt idx="0">
                  <c:v>T01</c:v>
                </c:pt>
                <c:pt idx="1">
                  <c:v>T02</c:v>
                </c:pt>
                <c:pt idx="2">
                  <c:v>T03</c:v>
                </c:pt>
                <c:pt idx="3">
                  <c:v>T04</c:v>
                </c:pt>
                <c:pt idx="4">
                  <c:v>T05</c:v>
                </c:pt>
              </c:strCache>
            </c:strRef>
          </c:cat>
          <c:val>
            <c:numRef>
              <c:f>Trang_tính1!$B$2:$B$6</c:f>
              <c:numCache>
                <c:formatCode>General</c:formatCode>
                <c:ptCount val="5"/>
                <c:pt idx="0">
                  <c:v>7.28</c:v>
                </c:pt>
                <c:pt idx="1">
                  <c:v>8.01</c:v>
                </c:pt>
                <c:pt idx="2">
                  <c:v>9.36</c:v>
                </c:pt>
                <c:pt idx="3">
                  <c:v>10.5</c:v>
                </c:pt>
                <c:pt idx="4">
                  <c:v>12.45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1F-4097-AFD6-F97E36EF9CE6}"/>
            </c:ext>
          </c:extLst>
        </c:ser>
        <c:ser>
          <c:idx val="1"/>
          <c:order val="1"/>
          <c:tx>
            <c:strRef>
              <c:f>Trang_tính1!$C$1</c:f>
              <c:strCache>
                <c:ptCount val="1"/>
                <c:pt idx="0">
                  <c:v>Chuỗi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Trang_tính1!$A$2:$A$6</c:f>
              <c:strCache>
                <c:ptCount val="5"/>
                <c:pt idx="0">
                  <c:v>T01</c:v>
                </c:pt>
                <c:pt idx="1">
                  <c:v>T02</c:v>
                </c:pt>
                <c:pt idx="2">
                  <c:v>T03</c:v>
                </c:pt>
                <c:pt idx="3">
                  <c:v>T04</c:v>
                </c:pt>
                <c:pt idx="4">
                  <c:v>T05</c:v>
                </c:pt>
              </c:strCache>
            </c:strRef>
          </c:cat>
          <c:val>
            <c:numRef>
              <c:f>Trang_tính1!$C$2:$C$6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A91F-4097-AFD6-F97E36EF9CE6}"/>
            </c:ext>
          </c:extLst>
        </c:ser>
        <c:ser>
          <c:idx val="2"/>
          <c:order val="2"/>
          <c:tx>
            <c:strRef>
              <c:f>Trang_tính1!$D$1</c:f>
              <c:strCache>
                <c:ptCount val="1"/>
                <c:pt idx="0">
                  <c:v>Chuỗi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Trang_tính1!$A$2:$A$6</c:f>
              <c:strCache>
                <c:ptCount val="5"/>
                <c:pt idx="0">
                  <c:v>T01</c:v>
                </c:pt>
                <c:pt idx="1">
                  <c:v>T02</c:v>
                </c:pt>
                <c:pt idx="2">
                  <c:v>T03</c:v>
                </c:pt>
                <c:pt idx="3">
                  <c:v>T04</c:v>
                </c:pt>
                <c:pt idx="4">
                  <c:v>T05</c:v>
                </c:pt>
              </c:strCache>
            </c:strRef>
          </c:cat>
          <c:val>
            <c:numRef>
              <c:f>Trang_tính1!$D$2:$D$6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A91F-4097-AFD6-F97E36EF9C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121505759"/>
        <c:axId val="1121506239"/>
        <c:axId val="0"/>
      </c:bar3DChart>
      <c:catAx>
        <c:axId val="11215057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506239"/>
        <c:crosses val="autoZero"/>
        <c:auto val="1"/>
        <c:lblAlgn val="ctr"/>
        <c:lblOffset val="100"/>
        <c:noMultiLvlLbl val="0"/>
      </c:catAx>
      <c:valAx>
        <c:axId val="11215062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5057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vi-VN"/>
              <a:t>CƠ CẤU CHI PHÍ (T5/2024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0560804884775274E-2"/>
          <c:y val="0.24756244897112162"/>
          <c:w val="0.54342630413385828"/>
          <c:h val="0.81513940605687707"/>
        </c:manualLayout>
      </c:layout>
      <c:doughnutChart>
        <c:varyColors val="1"/>
        <c:ser>
          <c:idx val="0"/>
          <c:order val="0"/>
          <c:tx>
            <c:strRef>
              <c:f>Trang_tính1!$B$1</c:f>
              <c:strCache>
                <c:ptCount val="1"/>
                <c:pt idx="0">
                  <c:v>Bán hàng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5811-4478-A583-BA82119FB39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5811-4478-A583-BA82119FB39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Trang_tính1!$A$2:$A$5</c:f>
              <c:strCache>
                <c:ptCount val="4"/>
                <c:pt idx="0">
                  <c:v>Quý 1</c:v>
                </c:pt>
                <c:pt idx="1">
                  <c:v>Quý 2</c:v>
                </c:pt>
                <c:pt idx="2">
                  <c:v>Quý 3</c:v>
                </c:pt>
                <c:pt idx="3">
                  <c:v>Quý 4</c:v>
                </c:pt>
              </c:strCache>
            </c:strRef>
          </c:cat>
          <c:val>
            <c:numRef>
              <c:f>Trang_tính1!$B$2:$B$5</c:f>
              <c:numCache>
                <c:formatCode>General</c:formatCode>
                <c:ptCount val="4"/>
                <c:pt idx="0">
                  <c:v>46</c:v>
                </c:pt>
                <c:pt idx="1">
                  <c:v>10</c:v>
                </c:pt>
                <c:pt idx="2">
                  <c:v>16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11-4478-A583-BA82119FB397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0.79931</cdr:x>
      <cdr:y>0.5</cdr:y>
    </cdr:from>
    <cdr:to>
      <cdr:x>0.91926</cdr:x>
      <cdr:y>0.74975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ADC1E51C-7641-9CBF-04DB-8DD92593B5BF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3924300" y="2258370"/>
          <a:ext cx="588915" cy="1128064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AC09A-D388-4039-A512-F18E8843AE06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25265-DEAC-4D0B-8754-ECFBBDA19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30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25265-DEAC-4D0B-8754-ECFBBDA196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36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25265-DEAC-4D0B-8754-ECFBBDA1965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440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0884907-0374-A9A0-FC8D-3FFCBA81D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768776F9-B55C-9137-D077-14C2506F5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209AAA8A-98EA-FE4C-70EA-07D7137CC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2F9F-A035-4724-90CD-096422CAE0B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ED142D2F-E0A4-E545-81A8-1904406BF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1CD2C5F-E1A8-E127-CDC3-9EE3A6568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A3B4F-27B4-4423-B09F-2ABD6E473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8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E9F34B6-AF6D-9F4F-7B86-7A56B794E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B0692B3-38C2-1624-BBA7-40E1D5F40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1F53AF2-D0A1-537A-DF98-6DA5B819E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2F9F-A035-4724-90CD-096422CAE0B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B7B3E3E-922C-6947-C7C8-7A646466D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8FA0E3F-ACED-F79C-CB8D-B85AC80FE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A3B4F-27B4-4423-B09F-2ABD6E473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0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E0E3D23-14AA-9C2D-0D81-F546A0F97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C07C7A23-B41C-555D-B38D-056A08815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7456ABF8-FE00-F772-2333-1B8774BD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2F9F-A035-4724-90CD-096422CAE0B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3E832EE-C2DD-6D8D-0B6E-CDA0C1169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2F396D91-9FE4-3557-BF31-ACBCFD37B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A3B4F-27B4-4423-B09F-2ABD6E473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7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B187D58-DE1D-EAFD-17F5-E52654CD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527631B-A14C-EF05-A9E0-1B961BA693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43CC9670-7717-85C0-B168-3AA519E70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9AA8345B-40B4-BC73-B277-1762B0303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2F9F-A035-4724-90CD-096422CAE0B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92E1DDC4-312C-88CB-C3D6-936794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2678D2ED-E299-20EB-A7DB-2511965AC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A3B4F-27B4-4423-B09F-2ABD6E473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445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BA3806A-AE7C-6459-E0CE-DD40236C7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A074AF69-8680-5417-33C2-F2913449A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1B732113-0F25-D748-C1DC-E172AFEBB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F51FBC17-FB7D-3892-AB5F-E805E2574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B2A49DCC-D04D-5BAA-B936-97C066E3D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292C2ED9-2135-2263-752E-28290E8E6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2F9F-A035-4724-90CD-096422CAE0B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157B481D-1220-A986-256F-547448876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1EAAF54D-805E-8F13-2DB6-F2E85EECE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A3B4F-27B4-4423-B09F-2ABD6E473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99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7813ECE-0550-2ED7-2560-81E1D40BC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F47E9F54-14EC-778E-0711-10E50159D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2F9F-A035-4724-90CD-096422CAE0B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2F49046C-B14E-A312-C53E-B478977B6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22D49182-8474-AC4B-16AB-6735D382C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A3B4F-27B4-4423-B09F-2ABD6E473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865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556C875-23D4-764B-8779-C8617EE1E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2F9F-A035-4724-90CD-096422CAE0B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2FBDDE2F-C2DB-F6D3-B437-51D5B003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0D680FE4-5506-4E5E-187F-5621E0D52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A3B4F-27B4-4423-B09F-2ABD6E473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76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B78C059-AD95-8C42-04C0-D3E791D2D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F5C9BC3-CCF4-0480-7C79-5A5F1B150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16C9AA36-6540-E193-4995-6A7695207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23CA3E02-8F80-CC96-9742-6BD13215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2F9F-A035-4724-90CD-096422CAE0B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AE100634-C264-2FE5-C5CE-1A3DE876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558346A4-6CD4-8974-EE50-25201772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A3B4F-27B4-4423-B09F-2ABD6E473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73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AAC8328-5744-0C67-83F0-B38E3CDF8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A35E8F2B-A4D0-034C-5F9F-534B2A6527B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B53A9911-53CF-B60D-E38E-D2BE1C5B3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9389ECD3-58BE-F5D3-A5A3-16C5311FC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2F9F-A035-4724-90CD-096422CAE0B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0E72CE26-3D7C-FFAD-B90B-50C8DE188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9103FB45-A1CD-E76A-E480-530967CD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A3B4F-27B4-4423-B09F-2ABD6E473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3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A8B8FD8-1EC8-8E40-E09B-48E745C01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4755B1A1-8C9B-6A1F-2984-31B0D13CC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2A60D9FF-317F-532D-39F8-632BFE669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2F9F-A035-4724-90CD-096422CAE0B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39FF2DF-E78B-EED3-0153-DFD6D4C42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AD695E6-946F-933D-EF94-996970F54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A3B4F-27B4-4423-B09F-2ABD6E473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914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A50BCFF1-9F50-74C8-4671-FA7D1AEBFC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38500358-607F-3056-36AA-9BA083888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D8943786-0333-C9AF-C07A-F7ED3ACE7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2F9F-A035-4724-90CD-096422CAE0B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EE7903F-000A-DF54-22A9-FA11330DE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28388E78-B295-71EB-B304-C30D22AD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A3B4F-27B4-4423-B09F-2ABD6E473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957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EA78C890-A0BC-BA66-514E-E7221332E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CCD5C4CB-2AEB-1599-F59C-1E66FC722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B7C36D5-26DB-1460-655C-D3CF58DA35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72F9F-A035-4724-90CD-096422CAE0B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24DBF78-A484-8C6A-A86D-FDF76B7C24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8AD8A45-8337-05D8-C9B4-527E6798D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A3B4F-27B4-4423-B09F-2ABD6E473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81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21795EDA-7722-8A93-7F8E-FBE8A9DC4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068" y="2070141"/>
            <a:ext cx="5066895" cy="4468939"/>
          </a:xfrm>
          <a:prstGeom prst="rect">
            <a:avLst/>
          </a:prstGeom>
        </p:spPr>
      </p:pic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B1412293-FDE4-3364-7483-8D5C221C00AB}"/>
              </a:ext>
            </a:extLst>
          </p:cNvPr>
          <p:cNvSpPr txBox="1"/>
          <p:nvPr/>
        </p:nvSpPr>
        <p:spPr>
          <a:xfrm>
            <a:off x="792690" y="2466574"/>
            <a:ext cx="617923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400" b="1" dirty="0">
                <a:solidFill>
                  <a:schemeClr val="accent1">
                    <a:lumMod val="75000"/>
                  </a:schemeClr>
                </a:solidFill>
              </a:rPr>
              <a:t>BÁO CÁO LỖ LÃI</a:t>
            </a:r>
          </a:p>
          <a:p>
            <a:r>
              <a:rPr lang="vi-VN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THÁNG 5/2024 </a:t>
            </a:r>
            <a:endParaRPr lang="en-US" sz="4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C47AE60D-A2A4-1854-BA0C-4C6CD577A042}"/>
              </a:ext>
            </a:extLst>
          </p:cNvPr>
          <p:cNvSpPr txBox="1"/>
          <p:nvPr/>
        </p:nvSpPr>
        <p:spPr>
          <a:xfrm>
            <a:off x="782267" y="4462920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____________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7" name="Hình ảnh 16">
            <a:extLst>
              <a:ext uri="{FF2B5EF4-FFF2-40B4-BE49-F238E27FC236}">
                <a16:creationId xmlns:a16="http://schemas.microsoft.com/office/drawing/2014/main" id="{DD6DE28E-223B-FE53-97B8-8CC65C3B4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11" y="533416"/>
            <a:ext cx="645875" cy="919128"/>
          </a:xfrm>
          <a:prstGeom prst="rect">
            <a:avLst/>
          </a:prstGeom>
        </p:spPr>
      </p:pic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0C4DFD98-D78B-5C20-E2F2-47205873DA46}"/>
              </a:ext>
            </a:extLst>
          </p:cNvPr>
          <p:cNvSpPr txBox="1"/>
          <p:nvPr/>
        </p:nvSpPr>
        <p:spPr>
          <a:xfrm>
            <a:off x="1498279" y="806213"/>
            <a:ext cx="194155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 err="1">
                <a:solidFill>
                  <a:schemeClr val="tx2"/>
                </a:solidFill>
              </a:rPr>
              <a:t>Pay</a:t>
            </a:r>
            <a:r>
              <a:rPr lang="vi-VN" dirty="0" err="1">
                <a:solidFill>
                  <a:schemeClr val="accent4"/>
                </a:solidFill>
              </a:rPr>
              <a:t>KX</a:t>
            </a:r>
            <a:endParaRPr lang="vi-VN" dirty="0">
              <a:solidFill>
                <a:schemeClr val="accent4"/>
              </a:solidFill>
            </a:endParaRPr>
          </a:p>
          <a:p>
            <a:r>
              <a:rPr lang="vi-VN" sz="1600" dirty="0"/>
              <a:t>Ví điện tử sinh viên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32630603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666E003A-3A0F-6FDA-D0EE-03D5E7817350}"/>
              </a:ext>
            </a:extLst>
          </p:cNvPr>
          <p:cNvSpPr/>
          <p:nvPr/>
        </p:nvSpPr>
        <p:spPr>
          <a:xfrm>
            <a:off x="427302" y="896815"/>
            <a:ext cx="2504049" cy="5064369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>
              <a:solidFill>
                <a:schemeClr val="tx1"/>
              </a:solidFill>
            </a:endParaRPr>
          </a:p>
          <a:p>
            <a:pPr algn="ctr"/>
            <a:endParaRPr lang="vi-VN" dirty="0">
              <a:solidFill>
                <a:schemeClr val="tx1"/>
              </a:solidFill>
            </a:endParaRPr>
          </a:p>
          <a:p>
            <a:pPr algn="ctr"/>
            <a:endParaRPr lang="vi-VN" dirty="0">
              <a:solidFill>
                <a:schemeClr val="tx1"/>
              </a:solidFill>
            </a:endParaRPr>
          </a:p>
          <a:p>
            <a:pPr algn="ctr"/>
            <a:endParaRPr lang="vi-VN" dirty="0">
              <a:solidFill>
                <a:schemeClr val="tx1"/>
              </a:solidFill>
            </a:endParaRPr>
          </a:p>
          <a:p>
            <a:pPr algn="ctr"/>
            <a:endParaRPr lang="vi-VN" dirty="0">
              <a:solidFill>
                <a:schemeClr val="tx1"/>
              </a:solidFill>
            </a:endParaRPr>
          </a:p>
          <a:p>
            <a:pPr algn="ctr"/>
            <a:r>
              <a:rPr lang="vi-VN" b="1" dirty="0">
                <a:solidFill>
                  <a:schemeClr val="accent1"/>
                </a:solidFill>
              </a:rPr>
              <a:t>DOANH THU THUẦN</a:t>
            </a:r>
          </a:p>
          <a:p>
            <a:pPr algn="ctr"/>
            <a:r>
              <a:rPr lang="vi-VN" sz="4400" dirty="0">
                <a:solidFill>
                  <a:schemeClr val="accent4"/>
                </a:solidFill>
              </a:rPr>
              <a:t>12,45</a:t>
            </a:r>
          </a:p>
          <a:p>
            <a:pPr algn="ctr"/>
            <a:r>
              <a:rPr lang="vi-VN" sz="1600" dirty="0">
                <a:solidFill>
                  <a:schemeClr val="accent4"/>
                </a:solidFill>
              </a:rPr>
              <a:t>Tỷ VND</a:t>
            </a:r>
          </a:p>
          <a:p>
            <a:r>
              <a:rPr lang="vi-VN" sz="2400" dirty="0">
                <a:solidFill>
                  <a:schemeClr val="tx1"/>
                </a:solidFill>
              </a:rPr>
              <a:t> </a:t>
            </a:r>
          </a:p>
          <a:p>
            <a:r>
              <a:rPr lang="vi-VN" sz="2400" dirty="0">
                <a:solidFill>
                  <a:srgbClr val="0070C0"/>
                </a:solidFill>
              </a:rPr>
              <a:t>          +18,6%</a:t>
            </a:r>
          </a:p>
          <a:p>
            <a:r>
              <a:rPr lang="vi-VN" sz="2400" dirty="0">
                <a:solidFill>
                  <a:srgbClr val="0070C0"/>
                </a:solidFill>
              </a:rPr>
              <a:t>  so với T4/2024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A67515EE-E0F3-DF28-6180-BBB9382235A6}"/>
              </a:ext>
            </a:extLst>
          </p:cNvPr>
          <p:cNvSpPr/>
          <p:nvPr/>
        </p:nvSpPr>
        <p:spPr>
          <a:xfrm>
            <a:off x="3394012" y="912189"/>
            <a:ext cx="2788948" cy="507492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>
              <a:solidFill>
                <a:schemeClr val="accent6"/>
              </a:solidFill>
            </a:endParaRPr>
          </a:p>
          <a:p>
            <a:pPr algn="ctr"/>
            <a:endParaRPr lang="vi-VN" dirty="0">
              <a:solidFill>
                <a:schemeClr val="accent6"/>
              </a:solidFill>
            </a:endParaRPr>
          </a:p>
          <a:p>
            <a:pPr algn="ctr"/>
            <a:endParaRPr lang="vi-VN" dirty="0">
              <a:solidFill>
                <a:schemeClr val="accent6"/>
              </a:solidFill>
            </a:endParaRPr>
          </a:p>
          <a:p>
            <a:pPr algn="ctr"/>
            <a:endParaRPr lang="vi-VN" dirty="0">
              <a:solidFill>
                <a:schemeClr val="accent6"/>
              </a:solidFill>
            </a:endParaRPr>
          </a:p>
          <a:p>
            <a:pPr algn="ctr"/>
            <a:endParaRPr lang="vi-VN" dirty="0">
              <a:solidFill>
                <a:schemeClr val="accent6"/>
              </a:solidFill>
            </a:endParaRPr>
          </a:p>
          <a:p>
            <a:pPr algn="ctr"/>
            <a:r>
              <a:rPr lang="vi-VN" b="1" dirty="0">
                <a:solidFill>
                  <a:schemeClr val="accent6"/>
                </a:solidFill>
              </a:rPr>
              <a:t> TỔNG CHI PHÍ</a:t>
            </a:r>
            <a:endParaRPr lang="vi-VN" sz="4400" b="1" dirty="0">
              <a:solidFill>
                <a:schemeClr val="accent6"/>
              </a:solidFill>
            </a:endParaRPr>
          </a:p>
          <a:p>
            <a:pPr algn="ctr"/>
            <a:r>
              <a:rPr lang="vi-VN" sz="4400" dirty="0">
                <a:solidFill>
                  <a:schemeClr val="accent6"/>
                </a:solidFill>
              </a:rPr>
              <a:t>7,28 </a:t>
            </a:r>
          </a:p>
          <a:p>
            <a:pPr algn="ctr"/>
            <a:r>
              <a:rPr lang="vi-VN" dirty="0">
                <a:solidFill>
                  <a:schemeClr val="accent6"/>
                </a:solidFill>
              </a:rPr>
              <a:t>Tỷ VND</a:t>
            </a:r>
          </a:p>
          <a:p>
            <a:pPr algn="ctr"/>
            <a:endParaRPr lang="vi-VN" dirty="0">
              <a:solidFill>
                <a:schemeClr val="accent6"/>
              </a:solidFill>
            </a:endParaRPr>
          </a:p>
          <a:p>
            <a:r>
              <a:rPr lang="vi-VN" sz="2000" dirty="0">
                <a:solidFill>
                  <a:srgbClr val="92D050"/>
                </a:solidFill>
              </a:rPr>
              <a:t>                </a:t>
            </a:r>
            <a:r>
              <a:rPr lang="vi-VN" sz="2400" dirty="0">
                <a:solidFill>
                  <a:srgbClr val="92D050"/>
                </a:solidFill>
              </a:rPr>
              <a:t>+12,1%</a:t>
            </a:r>
          </a:p>
          <a:p>
            <a:r>
              <a:rPr lang="vi-VN" sz="2400" dirty="0">
                <a:solidFill>
                  <a:schemeClr val="accent6"/>
                </a:solidFill>
              </a:rPr>
              <a:t>      so </a:t>
            </a:r>
            <a:r>
              <a:rPr lang="vi-VN" sz="2400" dirty="0">
                <a:solidFill>
                  <a:srgbClr val="00B050"/>
                </a:solidFill>
              </a:rPr>
              <a:t>với T4/2024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53B36598-3DB8-C476-7F3C-CDA22C8C3217}"/>
              </a:ext>
            </a:extLst>
          </p:cNvPr>
          <p:cNvSpPr/>
          <p:nvPr/>
        </p:nvSpPr>
        <p:spPr>
          <a:xfrm>
            <a:off x="9353703" y="922740"/>
            <a:ext cx="2504049" cy="5064369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/>
          </a:p>
          <a:p>
            <a:pPr algn="ctr"/>
            <a:endParaRPr lang="vi-VN" sz="1400" dirty="0"/>
          </a:p>
          <a:p>
            <a:pPr algn="ctr"/>
            <a:endParaRPr lang="vi-VN" sz="1400" dirty="0"/>
          </a:p>
          <a:p>
            <a:pPr algn="ctr"/>
            <a:endParaRPr lang="vi-VN" sz="1400" dirty="0"/>
          </a:p>
          <a:p>
            <a:pPr algn="ctr"/>
            <a:endParaRPr lang="vi-VN" sz="1400" dirty="0"/>
          </a:p>
          <a:p>
            <a:pPr algn="ctr"/>
            <a:endParaRPr lang="vi-VN" sz="1400" dirty="0"/>
          </a:p>
          <a:p>
            <a:pPr algn="ctr"/>
            <a:r>
              <a:rPr lang="vi-VN" sz="1400" dirty="0">
                <a:solidFill>
                  <a:schemeClr val="accent2"/>
                </a:solidFill>
              </a:rPr>
              <a:t>LỢI NHUẬN SAU THUẾ</a:t>
            </a:r>
          </a:p>
          <a:p>
            <a:pPr algn="ctr"/>
            <a:r>
              <a:rPr lang="vi-VN" sz="4400" dirty="0">
                <a:solidFill>
                  <a:schemeClr val="accent2"/>
                </a:solidFill>
              </a:rPr>
              <a:t>2,89</a:t>
            </a:r>
          </a:p>
          <a:p>
            <a:pPr algn="ctr"/>
            <a:r>
              <a:rPr lang="vi-VN" sz="1400" dirty="0">
                <a:solidFill>
                  <a:schemeClr val="accent2"/>
                </a:solidFill>
              </a:rPr>
              <a:t>Tỷ VND </a:t>
            </a:r>
          </a:p>
          <a:p>
            <a:pPr algn="ctr"/>
            <a:endParaRPr lang="vi-VN" sz="1400" dirty="0">
              <a:solidFill>
                <a:schemeClr val="accent2"/>
              </a:solidFill>
            </a:endParaRPr>
          </a:p>
          <a:p>
            <a:pPr algn="ctr"/>
            <a:endParaRPr lang="vi-VN" sz="1400" dirty="0">
              <a:solidFill>
                <a:schemeClr val="accent2"/>
              </a:solidFill>
            </a:endParaRPr>
          </a:p>
          <a:p>
            <a:pPr algn="ctr"/>
            <a:endParaRPr lang="vi-VN" sz="1400" dirty="0">
              <a:solidFill>
                <a:schemeClr val="accent2"/>
              </a:solidFill>
            </a:endParaRPr>
          </a:p>
          <a:p>
            <a:pPr algn="ctr"/>
            <a:r>
              <a:rPr lang="vi-VN" sz="2400" dirty="0">
                <a:solidFill>
                  <a:schemeClr val="accent2"/>
                </a:solidFill>
              </a:rPr>
              <a:t>+31,2 % </a:t>
            </a:r>
          </a:p>
          <a:p>
            <a:pPr algn="ctr"/>
            <a:r>
              <a:rPr lang="vi-VN" sz="2400" dirty="0">
                <a:solidFill>
                  <a:schemeClr val="accent2"/>
                </a:solidFill>
              </a:rPr>
              <a:t>So với T4/2024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F47C41DB-7777-1B1B-39F2-619D14547173}"/>
              </a:ext>
            </a:extLst>
          </p:cNvPr>
          <p:cNvSpPr/>
          <p:nvPr/>
        </p:nvSpPr>
        <p:spPr>
          <a:xfrm>
            <a:off x="6529568" y="922740"/>
            <a:ext cx="2504049" cy="5064369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  <a:p>
            <a:pPr algn="ctr"/>
            <a:endParaRPr lang="vi-VN" dirty="0"/>
          </a:p>
          <a:p>
            <a:pPr algn="ctr"/>
            <a:endParaRPr lang="vi-VN" dirty="0"/>
          </a:p>
          <a:p>
            <a:pPr algn="ctr"/>
            <a:endParaRPr lang="vi-VN" dirty="0"/>
          </a:p>
          <a:p>
            <a:pPr algn="ctr"/>
            <a:endParaRPr lang="vi-VN" dirty="0"/>
          </a:p>
          <a:p>
            <a:pPr algn="ctr"/>
            <a:endParaRPr lang="vi-VN" dirty="0"/>
          </a:p>
          <a:p>
            <a:pPr algn="ctr"/>
            <a:r>
              <a:rPr lang="vi-V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LỢI NHUẬN GỘP</a:t>
            </a:r>
          </a:p>
          <a:p>
            <a:pPr algn="ctr"/>
            <a:r>
              <a:rPr lang="vi-VN" sz="4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5,17</a:t>
            </a:r>
          </a:p>
          <a:p>
            <a:pPr algn="ctr"/>
            <a:r>
              <a:rPr lang="vi-V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Tỷ VND</a:t>
            </a:r>
          </a:p>
          <a:p>
            <a:pPr algn="ctr"/>
            <a:endParaRPr lang="vi-VN" dirty="0"/>
          </a:p>
          <a:p>
            <a:pPr algn="ctr"/>
            <a:endParaRPr lang="vi-VN" dirty="0"/>
          </a:p>
          <a:p>
            <a:r>
              <a:rPr lang="vi-VN" dirty="0"/>
              <a:t>            </a:t>
            </a:r>
            <a:r>
              <a:rPr lang="vi-VN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+12,1 %</a:t>
            </a:r>
            <a:r>
              <a:rPr lang="vi-VN" sz="2400" dirty="0"/>
              <a:t>        </a:t>
            </a:r>
            <a:r>
              <a:rPr lang="vi-VN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So với T4/2024</a:t>
            </a:r>
          </a:p>
          <a:p>
            <a:pPr algn="ctr"/>
            <a:endParaRPr lang="vi-VN" dirty="0"/>
          </a:p>
        </p:txBody>
      </p:sp>
      <p:pic>
        <p:nvPicPr>
          <p:cNvPr id="17" name="Hình ảnh 16">
            <a:extLst>
              <a:ext uri="{FF2B5EF4-FFF2-40B4-BE49-F238E27FC236}">
                <a16:creationId xmlns:a16="http://schemas.microsoft.com/office/drawing/2014/main" id="{D3C478BA-0B50-BD5E-120E-B44357F33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591" y="1154038"/>
            <a:ext cx="1253211" cy="1058269"/>
          </a:xfrm>
          <a:prstGeom prst="rect">
            <a:avLst/>
          </a:prstGeom>
        </p:spPr>
      </p:pic>
      <p:sp>
        <p:nvSpPr>
          <p:cNvPr id="18" name="Tam giác Cân 17">
            <a:extLst>
              <a:ext uri="{FF2B5EF4-FFF2-40B4-BE49-F238E27FC236}">
                <a16:creationId xmlns:a16="http://schemas.microsoft.com/office/drawing/2014/main" id="{915AD85C-2457-D9AF-DAE2-F92D9F69F171}"/>
              </a:ext>
            </a:extLst>
          </p:cNvPr>
          <p:cNvSpPr/>
          <p:nvPr/>
        </p:nvSpPr>
        <p:spPr>
          <a:xfrm>
            <a:off x="814141" y="4432468"/>
            <a:ext cx="464233" cy="368458"/>
          </a:xfrm>
          <a:prstGeom prst="triangl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Hình ảnh 19">
            <a:extLst>
              <a:ext uri="{FF2B5EF4-FFF2-40B4-BE49-F238E27FC236}">
                <a16:creationId xmlns:a16="http://schemas.microsoft.com/office/drawing/2014/main" id="{7DE229F0-9DF8-6C61-1DEC-4CD7D5DC5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V="1">
            <a:off x="4048709" y="1248520"/>
            <a:ext cx="1091712" cy="1177013"/>
          </a:xfrm>
          <a:prstGeom prst="rect">
            <a:avLst/>
          </a:prstGeom>
        </p:spPr>
      </p:pic>
      <p:sp>
        <p:nvSpPr>
          <p:cNvPr id="22" name="Tam giác Cân 21">
            <a:extLst>
              <a:ext uri="{FF2B5EF4-FFF2-40B4-BE49-F238E27FC236}">
                <a16:creationId xmlns:a16="http://schemas.microsoft.com/office/drawing/2014/main" id="{50794479-DF02-5716-B67E-9612FC900FD0}"/>
              </a:ext>
            </a:extLst>
          </p:cNvPr>
          <p:cNvSpPr/>
          <p:nvPr/>
        </p:nvSpPr>
        <p:spPr>
          <a:xfrm>
            <a:off x="3921959" y="4432468"/>
            <a:ext cx="464233" cy="368458"/>
          </a:xfrm>
          <a:prstGeom prst="triangl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Hình ảnh 23">
            <a:extLst>
              <a:ext uri="{FF2B5EF4-FFF2-40B4-BE49-F238E27FC236}">
                <a16:creationId xmlns:a16="http://schemas.microsoft.com/office/drawing/2014/main" id="{1F09830A-BB63-DA9F-34C2-C860F4F1C7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0521" y="1400895"/>
            <a:ext cx="1471273" cy="1024638"/>
          </a:xfrm>
          <a:prstGeom prst="rect">
            <a:avLst/>
          </a:prstGeom>
        </p:spPr>
      </p:pic>
      <p:sp>
        <p:nvSpPr>
          <p:cNvPr id="26" name="Tam giác Cân 25">
            <a:extLst>
              <a:ext uri="{FF2B5EF4-FFF2-40B4-BE49-F238E27FC236}">
                <a16:creationId xmlns:a16="http://schemas.microsoft.com/office/drawing/2014/main" id="{3C07CCFF-041A-93D1-A18C-7C3209896ABB}"/>
              </a:ext>
            </a:extLst>
          </p:cNvPr>
          <p:cNvSpPr/>
          <p:nvPr/>
        </p:nvSpPr>
        <p:spPr>
          <a:xfrm>
            <a:off x="6897533" y="4603489"/>
            <a:ext cx="464233" cy="352472"/>
          </a:xfrm>
          <a:prstGeom prst="triangl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8" name="Hình ảnh 27">
            <a:extLst>
              <a:ext uri="{FF2B5EF4-FFF2-40B4-BE49-F238E27FC236}">
                <a16:creationId xmlns:a16="http://schemas.microsoft.com/office/drawing/2014/main" id="{17E3FA16-3127-6660-B96F-B931FFF9D8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5048" y="1550146"/>
            <a:ext cx="1081361" cy="875387"/>
          </a:xfrm>
          <a:prstGeom prst="rect">
            <a:avLst/>
          </a:prstGeom>
        </p:spPr>
      </p:pic>
      <p:sp>
        <p:nvSpPr>
          <p:cNvPr id="30" name="Tam giác Cân 29">
            <a:extLst>
              <a:ext uri="{FF2B5EF4-FFF2-40B4-BE49-F238E27FC236}">
                <a16:creationId xmlns:a16="http://schemas.microsoft.com/office/drawing/2014/main" id="{7DB924B2-02A7-459C-87DD-1DE94E6FB8E6}"/>
              </a:ext>
            </a:extLst>
          </p:cNvPr>
          <p:cNvSpPr/>
          <p:nvPr/>
        </p:nvSpPr>
        <p:spPr>
          <a:xfrm>
            <a:off x="9679435" y="4603488"/>
            <a:ext cx="380214" cy="351982"/>
          </a:xfrm>
          <a:prstGeom prst="triangl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56557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F15A2B2B-317D-B30A-9591-F668574442F2}"/>
              </a:ext>
            </a:extLst>
          </p:cNvPr>
          <p:cNvSpPr/>
          <p:nvPr/>
        </p:nvSpPr>
        <p:spPr>
          <a:xfrm>
            <a:off x="214143" y="136136"/>
            <a:ext cx="11535507" cy="5702690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2" name="Biểu đồ 11">
            <a:extLst>
              <a:ext uri="{FF2B5EF4-FFF2-40B4-BE49-F238E27FC236}">
                <a16:creationId xmlns:a16="http://schemas.microsoft.com/office/drawing/2014/main" id="{17DBF21E-516F-670E-BCE0-D69A0AC23C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8204851"/>
              </p:ext>
            </p:extLst>
          </p:nvPr>
        </p:nvGraphicFramePr>
        <p:xfrm>
          <a:off x="306363" y="817553"/>
          <a:ext cx="5789637" cy="4949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5" name="Đường nối Thẳng 14">
            <a:extLst>
              <a:ext uri="{FF2B5EF4-FFF2-40B4-BE49-F238E27FC236}">
                <a16:creationId xmlns:a16="http://schemas.microsoft.com/office/drawing/2014/main" id="{FC8B3F45-D751-1197-04CA-C2D426616A0D}"/>
              </a:ext>
            </a:extLst>
          </p:cNvPr>
          <p:cNvCxnSpPr/>
          <p:nvPr/>
        </p:nvCxnSpPr>
        <p:spPr>
          <a:xfrm>
            <a:off x="6456631" y="627053"/>
            <a:ext cx="0" cy="47385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Biểu đồ 20">
            <a:extLst>
              <a:ext uri="{FF2B5EF4-FFF2-40B4-BE49-F238E27FC236}">
                <a16:creationId xmlns:a16="http://schemas.microsoft.com/office/drawing/2014/main" id="{A9695390-8E41-C388-BA2A-79708E0E84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6475763"/>
              </p:ext>
            </p:extLst>
          </p:nvPr>
        </p:nvGraphicFramePr>
        <p:xfrm>
          <a:off x="6648330" y="1033989"/>
          <a:ext cx="4909622" cy="4516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Hình chữ nhật: Góc Tròn 23">
            <a:extLst>
              <a:ext uri="{FF2B5EF4-FFF2-40B4-BE49-F238E27FC236}">
                <a16:creationId xmlns:a16="http://schemas.microsoft.com/office/drawing/2014/main" id="{E92AB2AA-7DC1-9891-1273-FF53CE1C7813}"/>
              </a:ext>
            </a:extLst>
          </p:cNvPr>
          <p:cNvSpPr/>
          <p:nvPr/>
        </p:nvSpPr>
        <p:spPr>
          <a:xfrm>
            <a:off x="398583" y="6040447"/>
            <a:ext cx="11159369" cy="7041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Tăng</a:t>
            </a:r>
            <a:r>
              <a:rPr lang="en-US" sz="2400" dirty="0"/>
              <a:t> </a:t>
            </a:r>
            <a:r>
              <a:rPr lang="en-US" sz="2400" dirty="0" err="1"/>
              <a:t>trưởng</a:t>
            </a:r>
            <a:r>
              <a:rPr lang="en-US" sz="2400" dirty="0"/>
              <a:t> </a:t>
            </a:r>
            <a:r>
              <a:rPr lang="en-US" sz="2400" dirty="0" err="1"/>
              <a:t>doanh</a:t>
            </a:r>
            <a:r>
              <a:rPr lang="en-US" sz="2400" dirty="0"/>
              <a:t> </a:t>
            </a:r>
            <a:r>
              <a:rPr lang="en-US" sz="2400" dirty="0" err="1"/>
              <a:t>thu</a:t>
            </a:r>
            <a:r>
              <a:rPr lang="en-US" sz="2400" dirty="0"/>
              <a:t> </a:t>
            </a:r>
            <a:r>
              <a:rPr lang="en-US" sz="2400" dirty="0" err="1"/>
              <a:t>mạnh</a:t>
            </a:r>
            <a:r>
              <a:rPr lang="en-US" sz="2400" dirty="0"/>
              <a:t> – </a:t>
            </a:r>
            <a:r>
              <a:rPr lang="en-US" sz="2400" dirty="0" err="1"/>
              <a:t>Tối</a:t>
            </a:r>
            <a:r>
              <a:rPr lang="en-US" sz="2400" dirty="0"/>
              <a:t> </a:t>
            </a:r>
            <a:r>
              <a:rPr lang="en-US" sz="2400" dirty="0" err="1"/>
              <a:t>ưu</a:t>
            </a:r>
            <a:r>
              <a:rPr lang="en-US" sz="2400" dirty="0"/>
              <a:t> chi </a:t>
            </a:r>
            <a:r>
              <a:rPr lang="en-US" sz="2400" dirty="0" err="1"/>
              <a:t>phí</a:t>
            </a:r>
            <a:r>
              <a:rPr lang="en-US" sz="2400" dirty="0"/>
              <a:t> – Lợi </a:t>
            </a:r>
            <a:r>
              <a:rPr lang="en-US" sz="2400" dirty="0" err="1"/>
              <a:t>nhuận</a:t>
            </a:r>
            <a:r>
              <a:rPr lang="en-US" sz="2400" dirty="0"/>
              <a:t> </a:t>
            </a:r>
            <a:r>
              <a:rPr lang="en-US" sz="2400" dirty="0" err="1"/>
              <a:t>bứt</a:t>
            </a:r>
            <a:r>
              <a:rPr lang="en-US" sz="2400" dirty="0"/>
              <a:t> </a:t>
            </a:r>
            <a:r>
              <a:rPr lang="en-US" sz="2400" dirty="0" err="1"/>
              <a:t>phá</a:t>
            </a:r>
            <a:endParaRPr lang="en-US" sz="2400" dirty="0"/>
          </a:p>
        </p:txBody>
      </p:sp>
      <p:pic>
        <p:nvPicPr>
          <p:cNvPr id="26" name="Hình ảnh 25">
            <a:extLst>
              <a:ext uri="{FF2B5EF4-FFF2-40B4-BE49-F238E27FC236}">
                <a16:creationId xmlns:a16="http://schemas.microsoft.com/office/drawing/2014/main" id="{5D2166AA-E61D-328A-A82C-87D165856A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77" t="13298" r="6580"/>
          <a:stretch>
            <a:fillRect/>
          </a:stretch>
        </p:blipFill>
        <p:spPr>
          <a:xfrm>
            <a:off x="634048" y="6062418"/>
            <a:ext cx="610552" cy="63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649093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99</Words>
  <Application>Microsoft Office PowerPoint</Application>
  <PresentationFormat>Màn hình rộng</PresentationFormat>
  <Paragraphs>58</Paragraphs>
  <Slides>3</Slides>
  <Notes>2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Chủ đề Office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Kiên Đỗ</dc:creator>
  <cp:lastModifiedBy>Kiên Đỗ</cp:lastModifiedBy>
  <cp:revision>1</cp:revision>
  <dcterms:created xsi:type="dcterms:W3CDTF">2026-10-26T03:52:53Z</dcterms:created>
  <dcterms:modified xsi:type="dcterms:W3CDTF">2026-10-26T05:04:26Z</dcterms:modified>
</cp:coreProperties>
</file>